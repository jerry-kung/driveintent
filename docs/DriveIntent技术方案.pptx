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DriveIntent </a:t>
            </a:r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技术实现方案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AI-powered automotive social-media intent &amp; lead intelligence — MVP(V0)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从短视频平台海量评论中识别真实购车意向,将公域用户转化为可解释、可验证、可跟进的 H/A/B/C 分级销售线索。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83664"/>
            <a:ext cx="2697480" cy="914400"/>
          </a:xfrm>
          <a:prstGeom prst="rect">
            <a:avLst/>
          </a:prstGeom>
          <a:solidFill>
            <a:srgbClr val="222D5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83664"/>
            <a:ext cx="2697480" cy="41148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975104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76656" y="2450592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4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测试集视频(抖音)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374136" y="1883664"/>
            <a:ext cx="2697480" cy="914400"/>
          </a:xfrm>
          <a:prstGeom prst="rect">
            <a:avLst/>
          </a:prstGeom>
          <a:solidFill>
            <a:srgbClr val="222D5C"/>
          </a:solidFill>
          <a:ln/>
        </p:spPr>
      </p:sp>
      <p:sp>
        <p:nvSpPr>
          <p:cNvPr id="10" name="Shape 8"/>
          <p:cNvSpPr/>
          <p:nvPr/>
        </p:nvSpPr>
        <p:spPr>
          <a:xfrm>
            <a:off x="3374136" y="1883664"/>
            <a:ext cx="2697480" cy="41148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11" name="Text 9"/>
          <p:cNvSpPr/>
          <p:nvPr/>
        </p:nvSpPr>
        <p:spPr>
          <a:xfrm>
            <a:off x="3502152" y="1975104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2.38 万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02152" y="2450592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4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评论(单视频 2–4169 条)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99632" y="1883664"/>
            <a:ext cx="2697480" cy="914400"/>
          </a:xfrm>
          <a:prstGeom prst="rect">
            <a:avLst/>
          </a:prstGeom>
          <a:solidFill>
            <a:srgbClr val="222D5C"/>
          </a:solidFill>
          <a:ln/>
        </p:spPr>
      </p:sp>
      <p:sp>
        <p:nvSpPr>
          <p:cNvPr id="14" name="Shape 12"/>
          <p:cNvSpPr/>
          <p:nvPr/>
        </p:nvSpPr>
        <p:spPr>
          <a:xfrm>
            <a:off x="6199632" y="1883664"/>
            <a:ext cx="2697480" cy="41148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15" name="Text 13"/>
          <p:cNvSpPr/>
          <p:nvPr/>
        </p:nvSpPr>
        <p:spPr>
          <a:xfrm>
            <a:off x="6327648" y="1975104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≈2 万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327648" y="2450592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4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评论用户(1865 人多评)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025128" y="1883664"/>
            <a:ext cx="2697480" cy="914400"/>
          </a:xfrm>
          <a:prstGeom prst="rect">
            <a:avLst/>
          </a:prstGeom>
          <a:solidFill>
            <a:srgbClr val="222D5C"/>
          </a:solidFill>
          <a:ln/>
        </p:spPr>
      </p:sp>
      <p:sp>
        <p:nvSpPr>
          <p:cNvPr id="18" name="Shape 16"/>
          <p:cNvSpPr/>
          <p:nvPr/>
        </p:nvSpPr>
        <p:spPr>
          <a:xfrm>
            <a:off x="9025128" y="1883664"/>
            <a:ext cx="2697480" cy="41148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19" name="Text 17"/>
          <p:cNvSpPr/>
          <p:nvPr/>
        </p:nvSpPr>
        <p:spPr>
          <a:xfrm>
            <a:off x="9153144" y="1975104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153144" y="2450592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4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 LLM Skill / 1 条固定工作流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30358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8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端到端流程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310128"/>
            <a:ext cx="1481328" cy="420624"/>
          </a:xfrm>
          <a:prstGeom prst="rect">
            <a:avLst/>
          </a:prstGeom>
          <a:solidFill>
            <a:srgbClr val="222D5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310128"/>
            <a:ext cx="148132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数据导入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034540" y="3447288"/>
            <a:ext cx="123444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25" name="Shape 23"/>
          <p:cNvSpPr/>
          <p:nvPr/>
        </p:nvSpPr>
        <p:spPr>
          <a:xfrm>
            <a:off x="2162556" y="3310128"/>
            <a:ext cx="1481328" cy="420624"/>
          </a:xfrm>
          <a:prstGeom prst="rect">
            <a:avLst/>
          </a:prstGeom>
          <a:solidFill>
            <a:srgbClr val="222D5C"/>
          </a:solidFill>
          <a:ln/>
        </p:spPr>
      </p:sp>
      <p:sp>
        <p:nvSpPr>
          <p:cNvPr id="26" name="Text 24"/>
          <p:cNvSpPr/>
          <p:nvPr/>
        </p:nvSpPr>
        <p:spPr>
          <a:xfrm>
            <a:off x="2162556" y="3310128"/>
            <a:ext cx="148132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视频语境分析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48456" y="3447288"/>
            <a:ext cx="123444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28" name="Shape 26"/>
          <p:cNvSpPr/>
          <p:nvPr/>
        </p:nvSpPr>
        <p:spPr>
          <a:xfrm>
            <a:off x="3776472" y="3310128"/>
            <a:ext cx="1481328" cy="420624"/>
          </a:xfrm>
          <a:prstGeom prst="rect">
            <a:avLst/>
          </a:prstGeom>
          <a:solidFill>
            <a:srgbClr val="222D5C"/>
          </a:solidFill>
          <a:ln/>
        </p:spPr>
      </p:sp>
      <p:sp>
        <p:nvSpPr>
          <p:cNvPr id="29" name="Text 27"/>
          <p:cNvSpPr/>
          <p:nvPr/>
        </p:nvSpPr>
        <p:spPr>
          <a:xfrm>
            <a:off x="3776472" y="3310128"/>
            <a:ext cx="148132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评论批量筛选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262372" y="3447288"/>
            <a:ext cx="123444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31" name="Shape 29"/>
          <p:cNvSpPr/>
          <p:nvPr/>
        </p:nvSpPr>
        <p:spPr>
          <a:xfrm>
            <a:off x="5390388" y="3310128"/>
            <a:ext cx="1481328" cy="420624"/>
          </a:xfrm>
          <a:prstGeom prst="rect">
            <a:avLst/>
          </a:prstGeom>
          <a:solidFill>
            <a:srgbClr val="222D5C"/>
          </a:solidFill>
          <a:ln/>
        </p:spPr>
      </p:sp>
      <p:sp>
        <p:nvSpPr>
          <p:cNvPr id="32" name="Text 30"/>
          <p:cNvSpPr/>
          <p:nvPr/>
        </p:nvSpPr>
        <p:spPr>
          <a:xfrm>
            <a:off x="5390388" y="3310128"/>
            <a:ext cx="148132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用户级聚合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76288" y="3447288"/>
            <a:ext cx="123444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34" name="Shape 32"/>
          <p:cNvSpPr/>
          <p:nvPr/>
        </p:nvSpPr>
        <p:spPr>
          <a:xfrm>
            <a:off x="7004304" y="3310128"/>
            <a:ext cx="1481328" cy="420624"/>
          </a:xfrm>
          <a:prstGeom prst="rect">
            <a:avLst/>
          </a:prstGeom>
          <a:solidFill>
            <a:srgbClr val="222D5C"/>
          </a:solidFill>
          <a:ln/>
        </p:spPr>
      </p:sp>
      <p:sp>
        <p:nvSpPr>
          <p:cNvPr id="35" name="Text 33"/>
          <p:cNvSpPr/>
          <p:nvPr/>
        </p:nvSpPr>
        <p:spPr>
          <a:xfrm>
            <a:off x="7004304" y="3310128"/>
            <a:ext cx="148132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用户综合分析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490204" y="3447288"/>
            <a:ext cx="123444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37" name="Shape 35"/>
          <p:cNvSpPr/>
          <p:nvPr/>
        </p:nvSpPr>
        <p:spPr>
          <a:xfrm>
            <a:off x="8618220" y="3310128"/>
            <a:ext cx="1481328" cy="420624"/>
          </a:xfrm>
          <a:prstGeom prst="rect">
            <a:avLst/>
          </a:prstGeom>
          <a:solidFill>
            <a:srgbClr val="0A7FA0"/>
          </a:solidFill>
          <a:ln/>
        </p:spPr>
      </p:sp>
      <p:sp>
        <p:nvSpPr>
          <p:cNvPr id="38" name="Text 36"/>
          <p:cNvSpPr/>
          <p:nvPr/>
        </p:nvSpPr>
        <p:spPr>
          <a:xfrm>
            <a:off x="8618220" y="3310128"/>
            <a:ext cx="148132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H/A/B/C 线索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104120" y="3447288"/>
            <a:ext cx="123444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40" name="Shape 38"/>
          <p:cNvSpPr/>
          <p:nvPr/>
        </p:nvSpPr>
        <p:spPr>
          <a:xfrm>
            <a:off x="10232136" y="3310128"/>
            <a:ext cx="1481328" cy="420624"/>
          </a:xfrm>
          <a:prstGeom prst="rect">
            <a:avLst/>
          </a:prstGeom>
          <a:solidFill>
            <a:srgbClr val="222D5C"/>
          </a:solidFill>
          <a:ln/>
        </p:spPr>
      </p:sp>
      <p:sp>
        <p:nvSpPr>
          <p:cNvPr id="41" name="Text 39"/>
          <p:cNvSpPr/>
          <p:nvPr/>
        </p:nvSpPr>
        <p:spPr>
          <a:xfrm>
            <a:off x="10232136" y="3310128"/>
            <a:ext cx="148132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 / 导出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8640" y="4041648"/>
            <a:ext cx="2697480" cy="1883664"/>
          </a:xfrm>
          <a:prstGeom prst="rect">
            <a:avLst/>
          </a:prstGeom>
          <a:solidFill>
            <a:srgbClr val="222D5C"/>
          </a:solidFill>
          <a:ln/>
        </p:spPr>
      </p:sp>
      <p:sp>
        <p:nvSpPr>
          <p:cNvPr id="43" name="Shape 41"/>
          <p:cNvSpPr/>
          <p:nvPr/>
        </p:nvSpPr>
        <p:spPr>
          <a:xfrm>
            <a:off x="548640" y="4041648"/>
            <a:ext cx="45720" cy="1883664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" y="415137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确定性工作流 + 专业化 Skill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5800" y="4663440"/>
            <a:ext cx="24231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AB4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固定工作流控制执行顺序,LLM Skill 负责语义判断:流程可预测、输入输出结构明确、问题可定位到具体 Skill,Skill 可独立升级与回归测试。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374136" y="4041648"/>
            <a:ext cx="2697480" cy="1883664"/>
          </a:xfrm>
          <a:prstGeom prst="rect">
            <a:avLst/>
          </a:prstGeom>
          <a:solidFill>
            <a:srgbClr val="222D5C"/>
          </a:solidFill>
          <a:ln/>
        </p:spPr>
      </p:sp>
      <p:sp>
        <p:nvSpPr>
          <p:cNvPr id="47" name="Shape 45"/>
          <p:cNvSpPr/>
          <p:nvPr/>
        </p:nvSpPr>
        <p:spPr>
          <a:xfrm>
            <a:off x="3374136" y="4041648"/>
            <a:ext cx="45720" cy="1883664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48" name="Text 46"/>
          <p:cNvSpPr/>
          <p:nvPr/>
        </p:nvSpPr>
        <p:spPr>
          <a:xfrm>
            <a:off x="3511296" y="415137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证据驱动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511296" y="4663440"/>
            <a:ext cx="24231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AB4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所有等级与画像结论均记录:证据评论、所在视频、判断理由、置信度、模型 / Prompt / Skill 版本,可完整回溯。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199632" y="4041648"/>
            <a:ext cx="2697480" cy="1883664"/>
          </a:xfrm>
          <a:prstGeom prst="rect">
            <a:avLst/>
          </a:prstGeom>
          <a:solidFill>
            <a:srgbClr val="222D5C"/>
          </a:solidFill>
          <a:ln/>
        </p:spPr>
      </p:sp>
      <p:sp>
        <p:nvSpPr>
          <p:cNvPr id="51" name="Shape 49"/>
          <p:cNvSpPr/>
          <p:nvPr/>
        </p:nvSpPr>
        <p:spPr>
          <a:xfrm>
            <a:off x="6199632" y="4041648"/>
            <a:ext cx="45720" cy="1883664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52" name="Text 50"/>
          <p:cNvSpPr/>
          <p:nvPr/>
        </p:nvSpPr>
        <p:spPr>
          <a:xfrm>
            <a:off x="6336792" y="415137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先准确率,后召回率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336792" y="4663440"/>
            <a:ext cx="24231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AB4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销售可处理线索有限。优先保证 H / H+A 级准确率与无效评论过滤效果,达标后再提升召回。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9025128" y="4041648"/>
            <a:ext cx="2697480" cy="1883664"/>
          </a:xfrm>
          <a:prstGeom prst="rect">
            <a:avLst/>
          </a:prstGeom>
          <a:solidFill>
            <a:srgbClr val="222D5C"/>
          </a:solidFill>
          <a:ln/>
        </p:spPr>
      </p:sp>
      <p:sp>
        <p:nvSpPr>
          <p:cNvPr id="55" name="Shape 53"/>
          <p:cNvSpPr/>
          <p:nvPr/>
        </p:nvSpPr>
        <p:spPr>
          <a:xfrm>
            <a:off x="9025128" y="4041648"/>
            <a:ext cx="45720" cy="1883664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56" name="Text 54"/>
          <p:cNvSpPr/>
          <p:nvPr/>
        </p:nvSpPr>
        <p:spPr>
          <a:xfrm>
            <a:off x="9162288" y="415137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逻辑分层,物理合并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162288" y="4663440"/>
            <a:ext cx="24231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AB4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L1–L5 五层逻辑边界清晰,物理上为模块化单体(单进程 FastAPI + MySQL),保留未来拆分与平台化路径。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66928" y="61996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8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3.11+ · FastAPI · SQLAlchemy 2.0 · Pydantic v2 · MySQL (PyMySQL) · Jinja2 服务端渲染 · pandas / openpyxl · asyncio 后台 Worker · OpenAI 兼容 LLM 接口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总体架构:五层逻辑分层 × 模块化单体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逻辑边界保证可维护与未来可拆分,物理合并降低 MVP 建设成本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414455" y="219456"/>
            <a:ext cx="38404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1414455" y="219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五层逻辑架构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5257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98448"/>
            <a:ext cx="566928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298448"/>
            <a:ext cx="566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24712" y="138988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业务应用层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24712" y="170078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任务页 · 线索列表 · 线索详情 · 人工审核 · CSV 导出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2231136"/>
            <a:ext cx="5257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231136"/>
            <a:ext cx="566928" cy="822960"/>
          </a:xfrm>
          <a:prstGeom prst="rect">
            <a:avLst/>
          </a:prstGeom>
          <a:solidFill>
            <a:srgbClr val="2B3A75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231136"/>
            <a:ext cx="566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24712" y="232257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业务策略层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24712" y="263347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线索有效性 · H/A/B/C 分级 · 购车意向画像 · 销售切入建议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3163824"/>
            <a:ext cx="5257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163824"/>
            <a:ext cx="566928" cy="822960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163824"/>
            <a:ext cx="566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24712" y="325526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分析能力层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24712" y="356616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视频语境理解 / 评论线索筛选 / 用户综合分析(3 个 LLM Skill)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1480" y="4096512"/>
            <a:ext cx="5257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4096512"/>
            <a:ext cx="566928" cy="822960"/>
          </a:xfrm>
          <a:prstGeom prst="rect">
            <a:avLst/>
          </a:prstGeom>
          <a:solidFill>
            <a:srgbClr val="3E7BA6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4096512"/>
            <a:ext cx="566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24712" y="418795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事实与特征层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24712" y="449884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视频语境结果 · 评论意向结果 · 用户聚合与简单统计特征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1480" y="5029200"/>
            <a:ext cx="5257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5029200"/>
            <a:ext cx="566928" cy="822960"/>
          </a:xfrm>
          <a:prstGeom prst="rect">
            <a:avLst/>
          </a:prstGeom>
          <a:solidFill>
            <a:srgbClr val="0A7FA0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5029200"/>
            <a:ext cx="566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24712" y="51206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数据与证据层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24712" y="543153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 · 评论 · 平台用户 · 原始 raw_data(证据可回溯)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11480" y="6035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模块依赖方向:web → services / workflow → skills → llm;importer / models 被各层引用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26480" y="960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模块化单体物理架构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1298448"/>
            <a:ext cx="5669280" cy="1975104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36208" y="1371600"/>
            <a:ext cx="5449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单进程应用(lifespan 内拉起 asyncio 后台 Worker)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54496" y="1700784"/>
            <a:ext cx="1737360" cy="676656"/>
          </a:xfrm>
          <a:prstGeom prst="rect">
            <a:avLst/>
          </a:prstGeom>
          <a:solidFill>
            <a:srgbClr val="EEF2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18504" y="175564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Importer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18504" y="201168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/ 标准 JSON 幂等导入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8083296" y="1700784"/>
            <a:ext cx="1737360" cy="676656"/>
          </a:xfrm>
          <a:prstGeom prst="rect">
            <a:avLst/>
          </a:prstGeom>
          <a:solidFill>
            <a:srgbClr val="EEF2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47304" y="175564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 Runner + Worker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147304" y="201168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固定工作流 · 任务轮询执行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9912096" y="1700784"/>
            <a:ext cx="1737360" cy="676656"/>
          </a:xfrm>
          <a:prstGeom prst="rect">
            <a:avLst/>
          </a:prstGeom>
          <a:solidFill>
            <a:srgbClr val="EEF2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976104" y="175564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Executor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976104" y="201168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组装 · Schema 校验重试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254496" y="2468880"/>
            <a:ext cx="1737360" cy="676656"/>
          </a:xfrm>
          <a:prstGeom prst="rect">
            <a:avLst/>
          </a:prstGeom>
          <a:solidFill>
            <a:srgbClr val="EEF2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18504" y="2523744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Gateway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18504" y="2779776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Provider 适配 · 重试 · 调用日志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8083296" y="2468880"/>
            <a:ext cx="1737360" cy="676656"/>
          </a:xfrm>
          <a:prstGeom prst="rect">
            <a:avLst/>
          </a:prstGeom>
          <a:solidFill>
            <a:srgbClr val="EEF2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47304" y="2523744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Lead Service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147304" y="2779776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用户聚合 · 线索生成 · 导出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9912096" y="2468880"/>
            <a:ext cx="1737360" cy="676656"/>
          </a:xfrm>
          <a:prstGeom prst="rect">
            <a:avLst/>
          </a:prstGeom>
          <a:solidFill>
            <a:srgbClr val="EEF2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976104" y="2523744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/ JSON API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976104" y="2779776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Jinja2 页面 + REST 接口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8860536" y="3310128"/>
            <a:ext cx="201168" cy="274320"/>
          </a:xfrm>
          <a:prstGeom prst="downArrow">
            <a:avLst/>
          </a:prstGeom>
          <a:solidFill>
            <a:srgbClr val="0898C0"/>
          </a:solidFill>
          <a:ln/>
        </p:spPr>
      </p:sp>
      <p:sp>
        <p:nvSpPr>
          <p:cNvPr id="55" name="Shape 53"/>
          <p:cNvSpPr/>
          <p:nvPr/>
        </p:nvSpPr>
        <p:spPr>
          <a:xfrm>
            <a:off x="6126480" y="3621024"/>
            <a:ext cx="5669280" cy="1481328"/>
          </a:xfrm>
          <a:prstGeom prst="rect">
            <a:avLst/>
          </a:prstGeom>
          <a:solidFill>
            <a:srgbClr val="FFFFFF"/>
          </a:solidFill>
          <a:ln w="15875">
            <a:solidFill>
              <a:srgbClr val="0A7FA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36208" y="3694176"/>
            <a:ext cx="5449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MySQL(7 张表,自动建表)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254496" y="4023360"/>
            <a:ext cx="1737360" cy="950976"/>
          </a:xfrm>
          <a:prstGeom prst="rect">
            <a:avLst/>
          </a:prstGeom>
          <a:solidFill>
            <a:srgbClr val="E8F4F8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18504" y="4096512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原始数据 (L1)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318504" y="4370832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6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 · platform_user · comment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8083296" y="4023360"/>
            <a:ext cx="1737360" cy="950976"/>
          </a:xfrm>
          <a:prstGeom prst="rect">
            <a:avLst/>
          </a:prstGeom>
          <a:solidFill>
            <a:srgbClr val="E8F4F8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147304" y="4096512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任务与结果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147304" y="4370832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6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analysis_task · analysis_result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9912096" y="4023360"/>
            <a:ext cx="1737360" cy="950976"/>
          </a:xfrm>
          <a:prstGeom prst="rect">
            <a:avLst/>
          </a:prstGeom>
          <a:solidFill>
            <a:srgbClr val="E8F4F8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976104" y="4096512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业务与日志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9976104" y="4370832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6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 · llm_call_log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126480" y="5321808"/>
            <a:ext cx="5669280" cy="8412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7" name="Text 65"/>
          <p:cNvSpPr/>
          <p:nvPr/>
        </p:nvSpPr>
        <p:spPr>
          <a:xfrm>
            <a:off x="6236208" y="5394960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横向公共能力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236208" y="5641848"/>
            <a:ext cx="5449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YAML 配置加载 · Prompt 版本管理 · JSON Schema 校验 · 任务状态管理 · 自动重试 · LLM 调用日志与 Token 统计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端到端分析流水线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固定工作流:上游任务完成后由 Worker 自动创建下游任务,全程异步、可断点续跑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414455" y="219456"/>
            <a:ext cx="38404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1414455" y="219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2798064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51560"/>
            <a:ext cx="50292" cy="1481328"/>
          </a:xfrm>
          <a:prstGeom prst="rect">
            <a:avLst/>
          </a:prstGeom>
          <a:solidFill>
            <a:srgbClr val="0A7FA0"/>
          </a:solidFill>
          <a:ln/>
        </p:spPr>
      </p:sp>
      <p:sp>
        <p:nvSpPr>
          <p:cNvPr id="8" name="Text 6"/>
          <p:cNvSpPr/>
          <p:nvPr/>
        </p:nvSpPr>
        <p:spPr>
          <a:xfrm>
            <a:off x="557784" y="112471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数据导入(L1)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7784" y="1417320"/>
            <a:ext cx="254203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/ 标准 JSON 双入口,同一导入管道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幂等键 platform+external_id,重复导入跳过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空评论跳过并计数;#话题# 标签解析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原始行完整存入 raw_data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18688" y="1719072"/>
            <a:ext cx="128016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11" name="Shape 9"/>
          <p:cNvSpPr/>
          <p:nvPr/>
        </p:nvSpPr>
        <p:spPr>
          <a:xfrm>
            <a:off x="3355848" y="1051560"/>
            <a:ext cx="2798064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5848" y="1051560"/>
            <a:ext cx="50292" cy="1481328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13" name="Text 11"/>
          <p:cNvSpPr/>
          <p:nvPr/>
        </p:nvSpPr>
        <p:spPr>
          <a:xfrm>
            <a:off x="3502152" y="112471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视频语境分析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02152" y="1417320"/>
            <a:ext cx="254203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Skill:video_context_analysis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每视频仅调用 1 次,结果供全部评论复用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输出品牌 / 车型 / 内容类型 / 主题 / 竞品 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商业属性 / 评论分析注意事项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63056" y="1719072"/>
            <a:ext cx="128016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0216" y="1051560"/>
            <a:ext cx="2798064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0216" y="1051560"/>
            <a:ext cx="50292" cy="1481328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12471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评论批量筛选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6520" y="1417320"/>
            <a:ext cx="254203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Skill:comment_lead_screening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条/批(可配 20–50),降低调用成本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区分情绪 / 兴趣 / 需求 / 交易四级意向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识别无意义 / 无关 / 营销 / 水军评论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107424" y="1719072"/>
            <a:ext cx="128016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21" name="Shape 19"/>
          <p:cNvSpPr/>
          <p:nvPr/>
        </p:nvSpPr>
        <p:spPr>
          <a:xfrm>
            <a:off x="9244584" y="1051560"/>
            <a:ext cx="2798064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44584" y="1051560"/>
            <a:ext cx="50292" cy="1481328"/>
          </a:xfrm>
          <a:prstGeom prst="rect">
            <a:avLst/>
          </a:prstGeom>
          <a:solidFill>
            <a:srgbClr val="2B7A5B"/>
          </a:solidFill>
          <a:ln/>
        </p:spPr>
      </p:sp>
      <p:sp>
        <p:nvSpPr>
          <p:cNvPr id="23" name="Text 21"/>
          <p:cNvSpPr/>
          <p:nvPr/>
        </p:nvSpPr>
        <p:spPr>
          <a:xfrm>
            <a:off x="9390888" y="112471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候选用户聚合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390888" y="1417320"/>
            <a:ext cx="254203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纯代码,不调用 LLM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门槛:购车相关且非营销评论 ≥ 1 条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聚合有效评论 / 所在视频 / 品牌车型 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高意向评论数等简单统计特征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11480" y="2880360"/>
            <a:ext cx="2798064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2880360"/>
            <a:ext cx="50292" cy="1481328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27" name="Text 25"/>
          <p:cNvSpPr/>
          <p:nvPr/>
        </p:nvSpPr>
        <p:spPr>
          <a:xfrm>
            <a:off x="557784" y="295351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用户综合分析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57784" y="3246120"/>
            <a:ext cx="254203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Skill:user_lead_analysis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输入:全部有效评论 + 各自视频语境 +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统计特征 + H/A/B/C 分级标准文本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输出等级 / 画像 / 切入点 / 证据评论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18688" y="3547872"/>
            <a:ext cx="128016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30" name="Shape 28"/>
          <p:cNvSpPr/>
          <p:nvPr/>
        </p:nvSpPr>
        <p:spPr>
          <a:xfrm>
            <a:off x="3355848" y="2880360"/>
            <a:ext cx="2798064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55848" y="2880360"/>
            <a:ext cx="50292" cy="14813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3502152" y="295351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线索生成(L4)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502152" y="3246120"/>
            <a:ext cx="254203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 / 更新 lead 表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每用户一条当前有效线索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skill_version 可重新生成,旧结果保留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证据评论 ID + 内容随线索存储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163056" y="3547872"/>
            <a:ext cx="128016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35" name="Shape 33"/>
          <p:cNvSpPr/>
          <p:nvPr/>
        </p:nvSpPr>
        <p:spPr>
          <a:xfrm>
            <a:off x="6300216" y="2880360"/>
            <a:ext cx="2798064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0216" y="2880360"/>
            <a:ext cx="50292" cy="14813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295351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 审核与导出(L5)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46520" y="3246120"/>
            <a:ext cx="2542032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列表按等级 / 品牌 / 车型 / 审核状态筛选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详情页展示证据与画像,页内人工审核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 导出(UTF-8 BOM)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审核数据沉淀为 Prompt 优化样本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643616" y="2532888"/>
            <a:ext cx="0" cy="173736"/>
          </a:xfrm>
          <a:prstGeom prst="line">
            <a:avLst/>
          </a:prstGeom>
          <a:noFill/>
          <a:ln w="15875">
            <a:solidFill>
              <a:srgbClr val="0898C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10512" y="2706624"/>
            <a:ext cx="8833104" cy="0"/>
          </a:xfrm>
          <a:prstGeom prst="line">
            <a:avLst/>
          </a:prstGeom>
          <a:noFill/>
          <a:ln w="15875">
            <a:solidFill>
              <a:srgbClr val="0898C0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1728216" y="2706624"/>
            <a:ext cx="164592" cy="173736"/>
          </a:xfrm>
          <a:prstGeom prst="downArrow">
            <a:avLst/>
          </a:prstGeom>
          <a:solidFill>
            <a:srgbClr val="0898C0"/>
          </a:solidFill>
          <a:ln/>
        </p:spPr>
      </p:sp>
      <p:sp>
        <p:nvSpPr>
          <p:cNvPr id="42" name="Shape 40"/>
          <p:cNvSpPr/>
          <p:nvPr/>
        </p:nvSpPr>
        <p:spPr>
          <a:xfrm>
            <a:off x="411480" y="4617720"/>
            <a:ext cx="5742432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" y="4617720"/>
            <a:ext cx="50292" cy="1737360"/>
          </a:xfrm>
          <a:prstGeom prst="rect">
            <a:avLst/>
          </a:prstGeom>
          <a:solidFill>
            <a:srgbClr val="E8890C"/>
          </a:solidFill>
          <a:ln/>
        </p:spPr>
      </p:sp>
      <p:sp>
        <p:nvSpPr>
          <p:cNvPr id="44" name="Text 42"/>
          <p:cNvSpPr/>
          <p:nvPr/>
        </p:nvSpPr>
        <p:spPr>
          <a:xfrm>
            <a:off x="557784" y="47091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漏斗式成本控制(以测试集为例)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57784" y="5074920"/>
            <a:ext cx="1051560" cy="365760"/>
          </a:xfrm>
          <a:prstGeom prst="rect">
            <a:avLst/>
          </a:prstGeom>
          <a:solidFill>
            <a:srgbClr val="0A7FA0"/>
          </a:solidFill>
          <a:ln/>
        </p:spPr>
      </p:sp>
      <p:sp>
        <p:nvSpPr>
          <p:cNvPr id="46" name="Text 44"/>
          <p:cNvSpPr/>
          <p:nvPr/>
        </p:nvSpPr>
        <p:spPr>
          <a:xfrm>
            <a:off x="557784" y="5074920"/>
            <a:ext cx="10515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 视频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12064" y="5486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 个语境任务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627632" y="5184648"/>
            <a:ext cx="109728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49" name="Shape 47"/>
          <p:cNvSpPr/>
          <p:nvPr/>
        </p:nvSpPr>
        <p:spPr>
          <a:xfrm>
            <a:off x="1773936" y="5074920"/>
            <a:ext cx="1371600" cy="365760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50" name="Text 48"/>
          <p:cNvSpPr/>
          <p:nvPr/>
        </p:nvSpPr>
        <p:spPr>
          <a:xfrm>
            <a:off x="1773936" y="5074920"/>
            <a:ext cx="1371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2.38 万评论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728216" y="54864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≈800 个筛选批任务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163824" y="5184648"/>
            <a:ext cx="109728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53" name="Shape 51"/>
          <p:cNvSpPr/>
          <p:nvPr/>
        </p:nvSpPr>
        <p:spPr>
          <a:xfrm>
            <a:off x="3310128" y="5074920"/>
            <a:ext cx="1371600" cy="365760"/>
          </a:xfrm>
          <a:prstGeom prst="rect">
            <a:avLst/>
          </a:prstGeom>
          <a:solidFill>
            <a:srgbClr val="2B7A5B"/>
          </a:solidFill>
          <a:ln/>
        </p:spPr>
      </p:sp>
      <p:sp>
        <p:nvSpPr>
          <p:cNvPr id="54" name="Text 52"/>
          <p:cNvSpPr/>
          <p:nvPr/>
        </p:nvSpPr>
        <p:spPr>
          <a:xfrm>
            <a:off x="3310128" y="5074920"/>
            <a:ext cx="1371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候选用户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264408" y="54864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仅购车相关进入 Skill ③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700016" y="5184648"/>
            <a:ext cx="109728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57" name="Shape 55"/>
          <p:cNvSpPr/>
          <p:nvPr/>
        </p:nvSpPr>
        <p:spPr>
          <a:xfrm>
            <a:off x="4846320" y="5074920"/>
            <a:ext cx="1234440" cy="365760"/>
          </a:xfrm>
          <a:prstGeom prst="rect">
            <a:avLst/>
          </a:prstGeom>
          <a:solidFill>
            <a:srgbClr val="D93848"/>
          </a:solidFill>
          <a:ln/>
        </p:spPr>
      </p:sp>
      <p:sp>
        <p:nvSpPr>
          <p:cNvPr id="58" name="Text 56"/>
          <p:cNvSpPr/>
          <p:nvPr/>
        </p:nvSpPr>
        <p:spPr>
          <a:xfrm>
            <a:off x="4846320" y="5074920"/>
            <a:ext cx="12344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H/A 高意向线索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800600" y="5486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销售直接跟进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57784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先准确率、后召回率:无效评论在 ③ 被过滤,仅候选用户消耗用户级分析 Token。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355080" y="4617720"/>
            <a:ext cx="5422392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355080" y="4617720"/>
            <a:ext cx="50292" cy="1737360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63" name="Text 61"/>
          <p:cNvSpPr/>
          <p:nvPr/>
        </p:nvSpPr>
        <p:spPr>
          <a:xfrm>
            <a:off x="6501384" y="47091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任务链驱动(数据库任务表,无消息队列)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501384" y="5020056"/>
            <a:ext cx="516636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导入完成 → 为无当前版本结果的视频创建 video_context 任务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某视频语境成功 → 该视频评论按批创建 screening 任务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全部筛选完成 → 代码聚合候选用户 → 创建 user_analysis 任务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用户分析成功 → 写入 / 更新 lead;各阶段结果分开保存,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下游失败无需重跑上游(分阶段保存)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数据模型(MySQL,7 张表)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原始数据与分析结果分离;结果多版本并存,支持升级 Skill 版本后对历史数据重新分析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414455" y="219456"/>
            <a:ext cx="38404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1414455" y="219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3703320" cy="4572000"/>
          </a:xfrm>
          <a:prstGeom prst="rect">
            <a:avLst/>
          </a:prstGeom>
          <a:solidFill>
            <a:srgbClr val="EDF3FB"/>
          </a:solidFill>
          <a:ln w="9525">
            <a:solidFill>
              <a:srgbClr val="3E5C94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75488" y="12252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E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原始数据(raw_data 全量保留)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517904"/>
            <a:ext cx="3429000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517904"/>
            <a:ext cx="3429000" cy="274320"/>
          </a:xfrm>
          <a:prstGeom prst="rect">
            <a:avLst/>
          </a:prstGeom>
          <a:solidFill>
            <a:srgbClr val="0A7FA0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1517904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1865376"/>
            <a:ext cx="32461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UK platform + external_id (aweme_id)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title / description / tags(JSON,解析自话题)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预留:author、account_type、publish_time、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transcript、preset_brand/model(当前为空)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463040" y="2852928"/>
            <a:ext cx="2468880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0" y="2852928"/>
            <a:ext cx="2468880" cy="274320"/>
          </a:xfrm>
          <a:prstGeom prst="rect">
            <a:avLst/>
          </a:prstGeom>
          <a:solidFill>
            <a:srgbClr val="0A7FA0"/>
          </a:solidFill>
          <a:ln/>
        </p:spPr>
      </p:sp>
      <p:sp>
        <p:nvSpPr>
          <p:cNvPr id="14" name="Text 12"/>
          <p:cNvSpPr/>
          <p:nvPr/>
        </p:nvSpPr>
        <p:spPr>
          <a:xfrm>
            <a:off x="1536192" y="285292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platform_user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554480" y="3200400"/>
            <a:ext cx="228600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UK platform + external_id (sec_uid)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nickname;预留 avatar / bio / region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02920" y="3931920"/>
            <a:ext cx="3429000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931920"/>
            <a:ext cx="3429000" cy="274320"/>
          </a:xfrm>
          <a:prstGeom prst="rect">
            <a:avLst/>
          </a:prstGeom>
          <a:solidFill>
            <a:srgbClr val="0A7FA0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" y="3931920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4279392"/>
            <a:ext cx="32461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UK platform + external_id (comment_id)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FK video_id → video;FK user_id → platform_user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 / comment_time(空评论导入即跳过)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预留:like_count、reply_count、is_reply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72000" y="1517904"/>
            <a:ext cx="35661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1517904"/>
            <a:ext cx="3566160" cy="274320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22" name="Text 20"/>
          <p:cNvSpPr/>
          <p:nvPr/>
        </p:nvSpPr>
        <p:spPr>
          <a:xfrm>
            <a:off x="4645152" y="1517904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analysis_task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63440" y="1865376"/>
            <a:ext cx="3383280" cy="9692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 UK task_type+target_type+target_id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+skill_version(同对象同版本不重复)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status: pending/running/success/failed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payload(评论批次 ID 列表)· attempt_count ≤ 3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0" y="3145536"/>
            <a:ext cx="35661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145536"/>
            <a:ext cx="3566160" cy="274320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26" name="Text 24"/>
          <p:cNvSpPr/>
          <p:nvPr/>
        </p:nvSpPr>
        <p:spPr>
          <a:xfrm>
            <a:off x="4645152" y="3145536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analysis_result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63440" y="3493008"/>
            <a:ext cx="3383280" cy="9692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target_type+target_id+skill_id+skill_version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result(JSON)· confidence · status · error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 model_name / prompt_version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多版本并存不覆盖,业务读当前生效版本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0" y="4773168"/>
            <a:ext cx="3566160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4773168"/>
            <a:ext cx="3566160" cy="27432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30" name="Text 28"/>
          <p:cNvSpPr/>
          <p:nvPr/>
        </p:nvSpPr>
        <p:spPr>
          <a:xfrm>
            <a:off x="4645152" y="477316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llm_call_log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63440" y="5120640"/>
            <a:ext cx="338328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skill_id/version · model · prompt_version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tokens · duration_ms · error · retry_count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732520" y="1517904"/>
            <a:ext cx="30632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32520" y="1517904"/>
            <a:ext cx="306324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8805672" y="1517904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823960" y="1865376"/>
            <a:ext cx="2880360" cy="19751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FK user_id(每用户一条当前有效线索)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grade(H/A/B/C)· is_valid · status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target_brands / models · summary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purchase_stage · core_needs · concerns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purchase_time · usage_scenario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entry_point · verification_questions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evidence(JSON:评论 ID + 内容)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confidence · skill_version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review_status / review_tags / review_note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914400" y="2743200"/>
            <a:ext cx="0" cy="1188720"/>
          </a:xfrm>
          <a:prstGeom prst="line">
            <a:avLst/>
          </a:prstGeom>
          <a:noFill/>
          <a:ln w="15875">
            <a:solidFill>
              <a:srgbClr val="3E5C94"/>
            </a:solidFill>
            <a:prstDash val="solid"/>
            <a:headEnd type="triangle"/>
          </a:ln>
        </p:spPr>
      </p:sp>
      <p:sp>
        <p:nvSpPr>
          <p:cNvPr id="37" name="Shape 35"/>
          <p:cNvSpPr/>
          <p:nvPr/>
        </p:nvSpPr>
        <p:spPr>
          <a:xfrm>
            <a:off x="2377440" y="3822192"/>
            <a:ext cx="0" cy="109728"/>
          </a:xfrm>
          <a:prstGeom prst="line">
            <a:avLst/>
          </a:prstGeom>
          <a:noFill/>
          <a:ln w="15875">
            <a:solidFill>
              <a:srgbClr val="3E5C94"/>
            </a:solidFill>
            <a:prstDash val="solid"/>
            <a:headEnd type="triangle"/>
          </a:ln>
        </p:spPr>
      </p:sp>
      <p:sp>
        <p:nvSpPr>
          <p:cNvPr id="38" name="Shape 36"/>
          <p:cNvSpPr/>
          <p:nvPr/>
        </p:nvSpPr>
        <p:spPr>
          <a:xfrm>
            <a:off x="4114800" y="1828800"/>
            <a:ext cx="457200" cy="0"/>
          </a:xfrm>
          <a:prstGeom prst="line">
            <a:avLst/>
          </a:prstGeom>
          <a:noFill/>
          <a:ln w="15875">
            <a:solidFill>
              <a:srgbClr val="8D99AE"/>
            </a:solidFill>
            <a:prstDash val="dash"/>
            <a:headEnd type="triangle"/>
          </a:ln>
        </p:spPr>
      </p:sp>
      <p:sp>
        <p:nvSpPr>
          <p:cNvPr id="39" name="Text 37"/>
          <p:cNvSpPr/>
          <p:nvPr/>
        </p:nvSpPr>
        <p:spPr>
          <a:xfrm>
            <a:off x="4617720" y="128016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虚线:target_type + target_id 泛化引用 L1 各表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8138160" y="2194560"/>
            <a:ext cx="594360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8732520" y="395020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 user_lead_analysis 成功结果写入 / 更新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65760" y="5943600"/>
            <a:ext cx="276148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5943600"/>
            <a:ext cx="50292" cy="713232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44" name="Text 42"/>
          <p:cNvSpPr/>
          <p:nvPr/>
        </p:nvSpPr>
        <p:spPr>
          <a:xfrm>
            <a:off x="493776" y="599846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原始数据不可覆盖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93776" y="623620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三表保留完整 raw_data JSON,支持排查、核对与历史重新分析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255264" y="5943600"/>
            <a:ext cx="276148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55264" y="5943600"/>
            <a:ext cx="50292" cy="713232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48" name="Text 46"/>
          <p:cNvSpPr/>
          <p:nvPr/>
        </p:nvSpPr>
        <p:spPr>
          <a:xfrm>
            <a:off x="3383280" y="599846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幂等导入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383280" y="623620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platform+external_id 唯一键,重复导入只跳过不重写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144768" y="5943600"/>
            <a:ext cx="276148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44768" y="5943600"/>
            <a:ext cx="50292" cy="713232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52" name="Text 50"/>
          <p:cNvSpPr/>
          <p:nvPr/>
        </p:nvSpPr>
        <p:spPr>
          <a:xfrm>
            <a:off x="6272784" y="599846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结果多版本并存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72784" y="623620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/ 标准变更 → 升 skill_version → 自动重分析,旧结果保留对比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9034272" y="5943600"/>
            <a:ext cx="276148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34272" y="5943600"/>
            <a:ext cx="50292" cy="713232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56" name="Text 54"/>
          <p:cNvSpPr/>
          <p:nvPr/>
        </p:nvSpPr>
        <p:spPr>
          <a:xfrm>
            <a:off x="9162288" y="599846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审核数据入库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162288" y="623620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review_status / tags / note 沉淀为 Prompt 样本、Few-shot 与回归测试集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Gateway 与 Skill 机制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横向公共能力:模型可替换、Skill 可版本化独立演进,业务代码零改动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414455" y="219456"/>
            <a:ext cx="38404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1414455" y="219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548640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51560"/>
            <a:ext cx="50292" cy="5394960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" y="1188720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Gateway(app/llm)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15910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统一异步接口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76072" y="1847088"/>
            <a:ext cx="5157216" cy="713232"/>
          </a:xfrm>
          <a:prstGeom prst="rect">
            <a:avLst/>
          </a:prstGeom>
          <a:solidFill>
            <a:srgbClr val="22283A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1938528"/>
            <a:ext cx="49377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chat(messages, *, model=None, temperature=None,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response_format=None) -&gt; LLMResponse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LLMResponse: text · prompt/completion_tokens · duration_ms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76072" y="27249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Provider 适配层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76072" y="2980944"/>
            <a:ext cx="5157216" cy="749808"/>
          </a:xfrm>
          <a:prstGeom prst="rect">
            <a:avLst/>
          </a:prstGeom>
          <a:solidFill>
            <a:srgbClr val="EEF2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3580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OpenAICompatProvider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3273552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base_url / api_key / model 全部来自 .env;可对接 Qwen(DashScope)、DeepSeek、本地 vLLM / Ollama 等任何 OpenAI 兼容端点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76072" y="3822192"/>
            <a:ext cx="5157216" cy="749808"/>
          </a:xfrm>
          <a:prstGeom prst="rect">
            <a:avLst/>
          </a:prstGeom>
          <a:solidFill>
            <a:srgbClr val="EEF2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87705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MockProvider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411480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规则生成结构化结果;无真实模型时跑通端到端流程,支撑全部自动化测试(CI 不依赖外部服务)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76072" y="48646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内置能力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76072" y="5138928"/>
            <a:ext cx="2523744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76072" y="5138928"/>
            <a:ext cx="252374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超时控制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9544" y="5138928"/>
            <a:ext cx="2523744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3209544" y="5138928"/>
            <a:ext cx="252374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 / 超时自动重试 2–3 次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76072" y="5632704"/>
            <a:ext cx="2523744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76072" y="5632704"/>
            <a:ext cx="252374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每次调用落 llm_call_log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9544" y="5632704"/>
            <a:ext cx="2523744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3209544" y="5632704"/>
            <a:ext cx="252374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换模型 = 改 .env,业务零改动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72200" y="1051560"/>
            <a:ext cx="562356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1051560"/>
            <a:ext cx="50292" cy="5394960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30" name="Text 28"/>
          <p:cNvSpPr/>
          <p:nvPr/>
        </p:nvSpPr>
        <p:spPr>
          <a:xfrm>
            <a:off x="6336792" y="1188720"/>
            <a:ext cx="5294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机制(app/skills)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36792" y="15910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Skill = 三要素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336792" y="1847088"/>
            <a:ext cx="1700784" cy="914400"/>
          </a:xfrm>
          <a:prstGeom prst="rect">
            <a:avLst/>
          </a:prstGeom>
          <a:solidFill>
            <a:srgbClr val="EEF2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9944" y="190195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YAML 配置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09944" y="21396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skill_id · 版本 · 模型参数 · prompt 路径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409944" y="25420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A7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configs/*.yaml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8147304" y="1847088"/>
            <a:ext cx="1700784" cy="914400"/>
          </a:xfrm>
          <a:prstGeom prst="rect">
            <a:avLst/>
          </a:prstGeom>
          <a:solidFill>
            <a:srgbClr val="EEF2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0456" y="190195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模板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220456" y="21396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文件名带版本号,独立调优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220456" y="25420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A7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prompts/*_v1.txt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9957816" y="1847088"/>
            <a:ext cx="1700784" cy="914400"/>
          </a:xfrm>
          <a:prstGeom prst="rect">
            <a:avLst/>
          </a:prstGeom>
          <a:solidFill>
            <a:srgbClr val="EEF2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30968" y="190195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Pydantic Schema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0030968" y="21396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/ 输出结构强校验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0030968" y="25420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A7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schemas/skills.py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336792" y="2926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F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执行器统一流程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336792" y="3200400"/>
            <a:ext cx="1225296" cy="457200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46" name="Text 44"/>
          <p:cNvSpPr/>
          <p:nvPr/>
        </p:nvSpPr>
        <p:spPr>
          <a:xfrm>
            <a:off x="6336792" y="3200400"/>
            <a:ext cx="122529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读 YAML 配置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566660" y="3355848"/>
            <a:ext cx="128016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48" name="Shape 46"/>
          <p:cNvSpPr/>
          <p:nvPr/>
        </p:nvSpPr>
        <p:spPr>
          <a:xfrm>
            <a:off x="7708392" y="3200400"/>
            <a:ext cx="1225296" cy="457200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49" name="Text 47"/>
          <p:cNvSpPr/>
          <p:nvPr/>
        </p:nvSpPr>
        <p:spPr>
          <a:xfrm>
            <a:off x="7708392" y="3200400"/>
            <a:ext cx="122529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取上游数据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8938260" y="3355848"/>
            <a:ext cx="128016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51" name="Shape 49"/>
          <p:cNvSpPr/>
          <p:nvPr/>
        </p:nvSpPr>
        <p:spPr>
          <a:xfrm>
            <a:off x="9079992" y="3200400"/>
            <a:ext cx="1225296" cy="457200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52" name="Text 50"/>
          <p:cNvSpPr/>
          <p:nvPr/>
        </p:nvSpPr>
        <p:spPr>
          <a:xfrm>
            <a:off x="9079992" y="3200400"/>
            <a:ext cx="122529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组装 Prompt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10309860" y="3355848"/>
            <a:ext cx="128016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54" name="Shape 52"/>
          <p:cNvSpPr/>
          <p:nvPr/>
        </p:nvSpPr>
        <p:spPr>
          <a:xfrm>
            <a:off x="10451592" y="3200400"/>
            <a:ext cx="1225296" cy="457200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55" name="Text 53"/>
          <p:cNvSpPr/>
          <p:nvPr/>
        </p:nvSpPr>
        <p:spPr>
          <a:xfrm>
            <a:off x="10451592" y="3200400"/>
            <a:ext cx="122529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调用 Gateway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336792" y="3858768"/>
            <a:ext cx="1225296" cy="457200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57" name="Text 55"/>
          <p:cNvSpPr/>
          <p:nvPr/>
        </p:nvSpPr>
        <p:spPr>
          <a:xfrm>
            <a:off x="6336792" y="3858768"/>
            <a:ext cx="122529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解析 JSON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566660" y="4014216"/>
            <a:ext cx="128016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59" name="Shape 57"/>
          <p:cNvSpPr/>
          <p:nvPr/>
        </p:nvSpPr>
        <p:spPr>
          <a:xfrm>
            <a:off x="7708392" y="3858768"/>
            <a:ext cx="1225296" cy="457200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60" name="Text 58"/>
          <p:cNvSpPr/>
          <p:nvPr/>
        </p:nvSpPr>
        <p:spPr>
          <a:xfrm>
            <a:off x="7708392" y="3858768"/>
            <a:ext cx="122529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Pydantic 校验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8938260" y="4014216"/>
            <a:ext cx="128016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62" name="Shape 60"/>
          <p:cNvSpPr/>
          <p:nvPr/>
        </p:nvSpPr>
        <p:spPr>
          <a:xfrm>
            <a:off x="9079992" y="3858768"/>
            <a:ext cx="1225296" cy="457200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63" name="Text 61"/>
          <p:cNvSpPr/>
          <p:nvPr/>
        </p:nvSpPr>
        <p:spPr>
          <a:xfrm>
            <a:off x="9079992" y="3858768"/>
            <a:ext cx="122529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失败修复 / 重试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0309860" y="4014216"/>
            <a:ext cx="128016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65" name="Shape 63"/>
          <p:cNvSpPr/>
          <p:nvPr/>
        </p:nvSpPr>
        <p:spPr>
          <a:xfrm>
            <a:off x="10451592" y="3858768"/>
            <a:ext cx="1225296" cy="457200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66" name="Text 64"/>
          <p:cNvSpPr/>
          <p:nvPr/>
        </p:nvSpPr>
        <p:spPr>
          <a:xfrm>
            <a:off x="10451592" y="3858768"/>
            <a:ext cx="122529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写 analysis_result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1064240" y="3657600"/>
            <a:ext cx="0" cy="100584"/>
          </a:xfrm>
          <a:prstGeom prst="line">
            <a:avLst/>
          </a:prstGeom>
          <a:noFill/>
          <a:ln w="12700">
            <a:solidFill>
              <a:srgbClr val="0898C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949440" y="3758184"/>
            <a:ext cx="4114800" cy="0"/>
          </a:xfrm>
          <a:prstGeom prst="line">
            <a:avLst/>
          </a:prstGeom>
          <a:noFill/>
          <a:ln w="12700">
            <a:solidFill>
              <a:srgbClr val="0898C0"/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>
            <a:off x="6885432" y="3758184"/>
            <a:ext cx="128016" cy="100584"/>
          </a:xfrm>
          <a:prstGeom prst="downArrow">
            <a:avLst/>
          </a:prstGeom>
          <a:solidFill>
            <a:srgbClr val="0898C0"/>
          </a:solidFill>
          <a:ln/>
        </p:spPr>
      </p:sp>
      <p:sp>
        <p:nvSpPr>
          <p:cNvPr id="70" name="Text 68"/>
          <p:cNvSpPr/>
          <p:nvPr/>
        </p:nvSpPr>
        <p:spPr>
          <a:xfrm>
            <a:off x="6336792" y="4480560"/>
            <a:ext cx="5294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每条结果记录 model_name / prompt_version / skill_version,证据链完整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336792" y="4791456"/>
            <a:ext cx="5294376" cy="786384"/>
          </a:xfrm>
          <a:prstGeom prst="rect">
            <a:avLst/>
          </a:prstGeom>
          <a:solidFill>
            <a:srgbClr val="FDF3E7"/>
          </a:solidFill>
          <a:ln w="9525">
            <a:solidFill>
              <a:srgbClr val="E8890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46520" y="48463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89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职责边界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446520" y="508406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执行器不决定业务流程,流程由工作流模块控制;新增判断原则优先改 Prompt / Few-shot 并升级 Skill 版本,不修改数据结构、不侵入其他流程。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6336792" y="5742432"/>
            <a:ext cx="5294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A7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示例:configs/comment_lead_screening.yaml + prompts/comment_lead_screening_v1.txt + CommentScreeningResult(Pydantic)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三个核心 LLM Skill 与 H/A/B/C 分级标准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全部业务语义判断集中在 3 个 Skill;分级以购车决策阶段与行动信号为主判据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414455" y="219456"/>
            <a:ext cx="38404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1414455" y="219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24128"/>
          <a:ext cx="1138428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3529584"/>
                <a:gridCol w="3538728"/>
                <a:gridCol w="3538728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video_context_analysis 视频语境理解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comment_lead_screening 评论线索筛选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user_lead_analysis 用户综合分析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粒度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每视频 1 次,结果全评论复用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每批 30 条评论(可配 20–50)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每候选用户 1 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标题、文案、话题标签;预留转写、账号类型、预置品牌车型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视频语境结果 + 评论批(带唯一 ID)+ 线索判断原则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用户全部有效评论(附各自视频语境)+ 统计特征 + 分级标准文本;预留用户主页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品牌 / 车型 / 内容类型 / 主题 / 受众 / 竞品 / 商业属性 / 分析注意事项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每条评论:有意义 · 汽车相关 · 购车相关 · 疑似营销 · 意向信号 · 品牌车型 · 强度 · 理由 · 置信度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等级 · 购车阶段 · 品牌车型 · 需求 · 顾虑 · 时间 · 场景 · 切入点 · 待确认问题 · 证据 · 置信度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关键策略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为评论理解提供上下文,避免逐条重复分析视频,压缩 Token 成本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区分情绪 / 兴趣 / 需求 / 交易四级;负面表达含换车需求不过滤;Few-shot 覆盖典型负样本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画像严格限定购车转化相关,无证据输出未知;不推断职业 / 收入 / 家庭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391363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H/A/B/C 分级标准(购车决策阶段 + 行动信号)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11480" y="4224528"/>
            <a:ext cx="384048" cy="384048"/>
          </a:xfrm>
          <a:prstGeom prst="rect">
            <a:avLst/>
          </a:prstGeom>
          <a:solidFill>
            <a:srgbClr val="D93848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95528" y="4224528"/>
            <a:ext cx="555955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6968" y="4224528"/>
            <a:ext cx="543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极高意向 · 交易 / 行动  </a:t>
            </a:r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询价与落地价、优惠、置换补贴、金融方案、门店 / 库存 / 交付、试驾、明确近期购买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11480" y="4700016"/>
            <a:ext cx="384048" cy="384048"/>
          </a:xfrm>
          <a:prstGeom prst="rect">
            <a:avLst/>
          </a:prstGeom>
          <a:solidFill>
            <a:srgbClr val="E8890C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" y="4700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95528" y="4700016"/>
            <a:ext cx="555955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6968" y="4700016"/>
            <a:ext cx="543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较强意向 · 主动评估  </a:t>
            </a:r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竞品对比、配置差异、养车成本、保值率 / 售后 / 质量、真实使用场景评估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11480" y="5175504"/>
            <a:ext cx="384048" cy="38404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4"/>
          <p:cNvSpPr/>
          <p:nvPr/>
        </p:nvSpPr>
        <p:spPr>
          <a:xfrm>
            <a:off x="411480" y="5175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95528" y="5175504"/>
            <a:ext cx="555955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86968" y="5175504"/>
            <a:ext cx="543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中等意向 · 产品兴趣  </a:t>
            </a:r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外观内饰讨论、浅层配置咨询、空间颜色兴趣、表示有点心动、未来可能考虑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11480" y="5650992"/>
            <a:ext cx="384048" cy="38404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1" name="Text 18"/>
          <p:cNvSpPr/>
          <p:nvPr/>
        </p:nvSpPr>
        <p:spPr>
          <a:xfrm>
            <a:off x="411480" y="5650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95528" y="5650992"/>
            <a:ext cx="555955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6968" y="5650992"/>
            <a:ext cx="543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6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较低意向 · 弱相关  </a:t>
            </a:r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普通吐槽、玩梗、浅层情绪表达,缺乏具体需求与购买计划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11480" y="616305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分级标准文本作为 Prompt 的一部分,可随 Skill 版本迭代;等级边界通过标注集与 Few-shot 固化。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492240" y="3913632"/>
            <a:ext cx="5330952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92240" y="3913632"/>
            <a:ext cx="50292" cy="102412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7" name="Text 24"/>
          <p:cNvSpPr/>
          <p:nvPr/>
        </p:nvSpPr>
        <p:spPr>
          <a:xfrm>
            <a:off x="6620256" y="398678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线索池保护:内部过滤状态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620256" y="4224528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无意义 / 与汽车无关 / 无购车意向 / 疑似营销 / 疑似水军 / 信息不足 —— 仅保存于 analysis_result,不进入 H/A/B/C 线索列表,避免污染 C 级线索池。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6492240" y="5084064"/>
            <a:ext cx="5330952" cy="1316736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92240" y="5084064"/>
            <a:ext cx="50292" cy="1316736"/>
          </a:xfrm>
          <a:prstGeom prst="rect">
            <a:avLst/>
          </a:prstGeom>
          <a:solidFill>
            <a:srgbClr val="E8890C"/>
          </a:solidFill>
          <a:ln/>
        </p:spPr>
      </p:sp>
      <p:sp>
        <p:nvSpPr>
          <p:cNvPr id="31" name="Text 28"/>
          <p:cNvSpPr/>
          <p:nvPr/>
        </p:nvSpPr>
        <p:spPr>
          <a:xfrm>
            <a:off x="6620256" y="5157216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批量处理防错位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620256" y="5486400"/>
            <a:ext cx="868680" cy="512064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33" name="Text 30"/>
          <p:cNvSpPr/>
          <p:nvPr/>
        </p:nvSpPr>
        <p:spPr>
          <a:xfrm>
            <a:off x="6620256" y="5486400"/>
            <a:ext cx="8686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评论带唯一 ID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7491679" y="5705856"/>
            <a:ext cx="59436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35" name="Shape 32"/>
          <p:cNvSpPr/>
          <p:nvPr/>
        </p:nvSpPr>
        <p:spPr>
          <a:xfrm>
            <a:off x="7557516" y="5486400"/>
            <a:ext cx="1371600" cy="512064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36" name="Text 33"/>
          <p:cNvSpPr/>
          <p:nvPr/>
        </p:nvSpPr>
        <p:spPr>
          <a:xfrm>
            <a:off x="7557516" y="5486400"/>
            <a:ext cx="13716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输出条数 + ID 集合强校验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8931859" y="5705856"/>
            <a:ext cx="59436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38" name="Shape 35"/>
          <p:cNvSpPr/>
          <p:nvPr/>
        </p:nvSpPr>
        <p:spPr>
          <a:xfrm>
            <a:off x="8997696" y="5486400"/>
            <a:ext cx="932688" cy="512064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39" name="Text 36"/>
          <p:cNvSpPr/>
          <p:nvPr/>
        </p:nvSpPr>
        <p:spPr>
          <a:xfrm>
            <a:off x="8997696" y="5486400"/>
            <a:ext cx="93268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不一致整批重试</a:t>
            </a:r>
            <a:endParaRPr lang="en-US" sz="650" dirty="0"/>
          </a:p>
        </p:txBody>
      </p:sp>
      <p:sp>
        <p:nvSpPr>
          <p:cNvPr id="40" name="Shape 37"/>
          <p:cNvSpPr/>
          <p:nvPr/>
        </p:nvSpPr>
        <p:spPr>
          <a:xfrm>
            <a:off x="9933127" y="5705856"/>
            <a:ext cx="59436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41" name="Shape 38"/>
          <p:cNvSpPr/>
          <p:nvPr/>
        </p:nvSpPr>
        <p:spPr>
          <a:xfrm>
            <a:off x="9998964" y="5486400"/>
            <a:ext cx="685800" cy="512064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42" name="Text 39"/>
          <p:cNvSpPr/>
          <p:nvPr/>
        </p:nvSpPr>
        <p:spPr>
          <a:xfrm>
            <a:off x="9998964" y="5486400"/>
            <a:ext cx="6858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再失败拆半</a:t>
            </a:r>
            <a:endParaRPr lang="en-US" sz="650" dirty="0"/>
          </a:p>
        </p:txBody>
      </p:sp>
      <p:sp>
        <p:nvSpPr>
          <p:cNvPr id="43" name="Shape 40"/>
          <p:cNvSpPr/>
          <p:nvPr/>
        </p:nvSpPr>
        <p:spPr>
          <a:xfrm>
            <a:off x="10687507" y="5705856"/>
            <a:ext cx="59436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44" name="Shape 41"/>
          <p:cNvSpPr/>
          <p:nvPr/>
        </p:nvSpPr>
        <p:spPr>
          <a:xfrm>
            <a:off x="10753344" y="5486400"/>
            <a:ext cx="932688" cy="512064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45" name="Text 42"/>
          <p:cNvSpPr/>
          <p:nvPr/>
        </p:nvSpPr>
        <p:spPr>
          <a:xfrm>
            <a:off x="10753344" y="5486400"/>
            <a:ext cx="93268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超长评论单独成批</a:t>
            </a:r>
            <a:endParaRPr lang="en-US" sz="650" dirty="0"/>
          </a:p>
        </p:txBody>
      </p:sp>
      <p:sp>
        <p:nvSpPr>
          <p:cNvPr id="46" name="Text 43"/>
          <p:cNvSpPr/>
          <p:nvPr/>
        </p:nvSpPr>
        <p:spPr>
          <a:xfrm>
            <a:off x="6620256" y="6089904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输出与输入不一致的批次不入库,保证评论结果与 ID 严格对应。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任务调度与可靠性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数据库任务表 + 进程内 asyncio Worker:无消息队列的最小可靠执行方案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414455" y="219456"/>
            <a:ext cx="38404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1414455" y="219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55778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51560"/>
            <a:ext cx="50292" cy="2743200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8" name="Text 6"/>
          <p:cNvSpPr/>
          <p:nvPr/>
        </p:nvSpPr>
        <p:spPr>
          <a:xfrm>
            <a:off x="557784" y="1161288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任务状态机(analysis_task.status)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828800"/>
            <a:ext cx="1188720" cy="4754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828800"/>
            <a:ext cx="11887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pending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1828800"/>
            <a:ext cx="1188720" cy="475488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828800"/>
            <a:ext cx="11887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running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26280" y="1481328"/>
            <a:ext cx="1188720" cy="47548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1481328"/>
            <a:ext cx="11887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success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26280" y="2212848"/>
            <a:ext cx="1188720" cy="475488"/>
          </a:xfrm>
          <a:prstGeom prst="rect">
            <a:avLst/>
          </a:prstGeom>
          <a:solidFill>
            <a:srgbClr val="D93848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2212848"/>
            <a:ext cx="11887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29384" y="1993392"/>
            <a:ext cx="621792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18" name="Text 16"/>
          <p:cNvSpPr/>
          <p:nvPr/>
        </p:nvSpPr>
        <p:spPr>
          <a:xfrm>
            <a:off x="1837944" y="170078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领取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 flipV="1">
            <a:off x="3813048" y="1783080"/>
            <a:ext cx="694944" cy="155448"/>
          </a:xfrm>
          <a:prstGeom prst="line">
            <a:avLst/>
          </a:prstGeom>
          <a:noFill/>
          <a:ln w="15875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813048" y="2194560"/>
            <a:ext cx="694944" cy="155448"/>
          </a:xfrm>
          <a:prstGeom prst="line">
            <a:avLst/>
          </a:prstGeom>
          <a:noFill/>
          <a:ln w="15875">
            <a:solidFill>
              <a:srgbClr val="D9384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20640" y="2688336"/>
            <a:ext cx="0" cy="402336"/>
          </a:xfrm>
          <a:prstGeom prst="line">
            <a:avLst/>
          </a:prstGeom>
          <a:noFill/>
          <a:ln w="15875">
            <a:solidFill>
              <a:srgbClr val="E8890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80160" y="3090672"/>
            <a:ext cx="3840480" cy="0"/>
          </a:xfrm>
          <a:prstGeom prst="line">
            <a:avLst/>
          </a:prstGeom>
          <a:noFill/>
          <a:ln w="15875">
            <a:solidFill>
              <a:srgbClr val="E8890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80160" y="2304288"/>
            <a:ext cx="0" cy="786384"/>
          </a:xfrm>
          <a:prstGeom prst="line">
            <a:avLst/>
          </a:prstGeom>
          <a:noFill/>
          <a:ln w="15875">
            <a:solidFill>
              <a:srgbClr val="E8890C"/>
            </a:solidFill>
            <a:prstDash val="solid"/>
            <a:headEnd type="triangle"/>
          </a:ln>
        </p:spPr>
      </p:sp>
      <p:sp>
        <p:nvSpPr>
          <p:cNvPr id="24" name="Text 22"/>
          <p:cNvSpPr/>
          <p:nvPr/>
        </p:nvSpPr>
        <p:spPr>
          <a:xfrm>
            <a:off x="1417320" y="314553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89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attempt_count &lt; 3 自动重试;最终失败 → 页面人工重试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57784" y="3438144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进程重启:遗留 running 全部重置为 pending 续跑(状态只存数据库,断点可恢复)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11480" y="3950208"/>
            <a:ext cx="55778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950208"/>
            <a:ext cx="50292" cy="786384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28" name="Text 26"/>
          <p:cNvSpPr/>
          <p:nvPr/>
        </p:nvSpPr>
        <p:spPr>
          <a:xfrm>
            <a:off x="557784" y="40233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幂等键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57784" y="4261104"/>
            <a:ext cx="5285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7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task_type + target_type + target_id + skill_version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977640" y="40233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同对象同版本不重复执行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11480" y="4846320"/>
            <a:ext cx="55778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4846320"/>
            <a:ext cx="50292" cy="731520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33" name="Text 31"/>
          <p:cNvSpPr/>
          <p:nvPr/>
        </p:nvSpPr>
        <p:spPr>
          <a:xfrm>
            <a:off x="557784" y="49194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运行参数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7784" y="5138928"/>
            <a:ext cx="5285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lifespan 内 asyncio 轮询领取(领取即置 running);LLM 并发度 WORKER_CONCURRENCY=3 可配;上游完成自动创建下游任务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11480" y="5687568"/>
            <a:ext cx="55778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5687568"/>
            <a:ext cx="50292" cy="731520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37" name="Text 35"/>
          <p:cNvSpPr/>
          <p:nvPr/>
        </p:nvSpPr>
        <p:spPr>
          <a:xfrm>
            <a:off x="557784" y="57607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版本化重分析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57784" y="5980176"/>
            <a:ext cx="5285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/ 分级标准变更 → 升级 skill_version → 历史数据自动生成新任务重新分析;新旧结果并存,可对比评测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63640" y="1051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异常处理矩阵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371600"/>
          <a:ext cx="55321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32004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异常场景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处理策略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LLM 超时 / 网络异常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Gateway 层自动重试 2–3 次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JSON 解析失败 / Schema 不符 / 空返回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执行器自动修复尝试 → 重新调用 → 多次失败标 failed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批次输出与输入 ID 不一致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整批重试 → 拆半重试 → 标 failed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任务多次失败(≥3 次)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记录错误原因,任务页一键人工重试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进程重启 / 崩溃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running 任务重置 pending 自动续跑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6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所有 LLM 调用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落 llm_call_log:模型、token、耗时、错误、重试次数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Shape 38"/>
          <p:cNvSpPr/>
          <p:nvPr/>
        </p:nvSpPr>
        <p:spPr>
          <a:xfrm>
            <a:off x="6263640" y="5074920"/>
            <a:ext cx="5532120" cy="13441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263640" y="5074920"/>
            <a:ext cx="50292" cy="13441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3" name="Text 40"/>
          <p:cNvSpPr/>
          <p:nvPr/>
        </p:nvSpPr>
        <p:spPr>
          <a:xfrm>
            <a:off x="6409944" y="5166360"/>
            <a:ext cx="5239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分阶段保存,失败影响最小化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409944" y="5440680"/>
            <a:ext cx="5239512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视频语境 / 评论筛选 / 用户分析三阶段结果分别落库;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用户分析失败时无需重跑视频与评论分析;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全部输出经 Pydantic 强校验后才入库,保证下游数据质量。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业务应用层与评测体系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最小业务闭环:线索查看 → 人工审核 → 数据沉淀;评测脚手架支撑 Prompt 迭代与版本回归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414455" y="219456"/>
            <a:ext cx="384048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1414455" y="219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40233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51560"/>
            <a:ext cx="50292" cy="3108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57784" y="1161288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页面与 JSON API(L5)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7784" y="1481328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45336" y="1481328"/>
            <a:ext cx="27066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任务页:Excel 导入(新增/跳过统计)、启动分析、阶段进度轮询、失败任务重试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57784" y="2139696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/leads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45336" y="2139696"/>
            <a:ext cx="27066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线索列表:按等级/品牌/车型/审核状态筛选,导出带 BOM 的 CSV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57784" y="2798064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/leads/{id}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45336" y="2798064"/>
            <a:ext cx="27066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线索详情:证据评论与所在视频 · 筛选结果 · 意向画像 · 分级理由 · 页内审核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57784" y="3474720"/>
            <a:ext cx="3730752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" y="3566160"/>
            <a:ext cx="373075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/api/import · /api/analysis/start · /api/tasks/{id}/retry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/api/analysis/progress · /api/leads(筛选+分页)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26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/api/leads/{id} · /api/leads/export · POST …/review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11480" y="4297680"/>
            <a:ext cx="4023360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4297680"/>
            <a:ext cx="50292" cy="2121408"/>
          </a:xfrm>
          <a:prstGeom prst="rect">
            <a:avLst/>
          </a:prstGeom>
          <a:solidFill>
            <a:srgbClr val="0898C0"/>
          </a:solidFill>
          <a:ln/>
        </p:spPr>
      </p:sp>
      <p:sp>
        <p:nvSpPr>
          <p:cNvPr id="19" name="Text 17"/>
          <p:cNvSpPr/>
          <p:nvPr/>
        </p:nvSpPr>
        <p:spPr>
          <a:xfrm>
            <a:off x="557784" y="4389120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人工审核闭环(不自动回灌模型)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57784" y="4681728"/>
            <a:ext cx="3730752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review_status:未审核 / 有效 / 无效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review_tags 多选:等级偏高 · 等级偏低 · 疑似水军 · 无真实购车需求 · 画像错误 · 切入点无价值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review_note:自由备注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57784" y="5870448"/>
            <a:ext cx="118872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" y="5870448"/>
            <a:ext cx="1188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优化样本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755648" y="5998464"/>
            <a:ext cx="82296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24" name="Shape 22"/>
          <p:cNvSpPr/>
          <p:nvPr/>
        </p:nvSpPr>
        <p:spPr>
          <a:xfrm>
            <a:off x="1856232" y="5870448"/>
            <a:ext cx="118872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1856232" y="5870448"/>
            <a:ext cx="1188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Few-shot 案例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054096" y="5998464"/>
            <a:ext cx="82296" cy="146304"/>
          </a:xfrm>
          <a:prstGeom prst="rightArrow">
            <a:avLst/>
          </a:prstGeom>
          <a:solidFill>
            <a:srgbClr val="0898C0"/>
          </a:solidFill>
          <a:ln/>
        </p:spPr>
      </p:sp>
      <p:sp>
        <p:nvSpPr>
          <p:cNvPr id="27" name="Shape 25"/>
          <p:cNvSpPr/>
          <p:nvPr/>
        </p:nvSpPr>
        <p:spPr>
          <a:xfrm>
            <a:off x="3154680" y="5870448"/>
            <a:ext cx="118872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3154680" y="5870448"/>
            <a:ext cx="1188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回归测试集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617720" y="1051560"/>
            <a:ext cx="3794760" cy="53675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1051560"/>
            <a:ext cx="50292" cy="536752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1" name="Text 29"/>
          <p:cNvSpPr/>
          <p:nvPr/>
        </p:nvSpPr>
        <p:spPr>
          <a:xfrm>
            <a:off x="4764024" y="1161288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 评测指标(四组)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64024" y="1499616"/>
            <a:ext cx="1005840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3" name="Text 31"/>
          <p:cNvSpPr/>
          <p:nvPr/>
        </p:nvSpPr>
        <p:spPr>
          <a:xfrm>
            <a:off x="4764024" y="1499616"/>
            <a:ext cx="1005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评论筛选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897880" y="1490472"/>
            <a:ext cx="2331720" cy="8595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无意义评论过滤准确率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购车相关评论识别准确率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疑似营销评论识别准确率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无效评论误入率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64024" y="2542032"/>
            <a:ext cx="1005840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6" name="Text 34"/>
          <p:cNvSpPr/>
          <p:nvPr/>
        </p:nvSpPr>
        <p:spPr>
          <a:xfrm>
            <a:off x="4764024" y="2542032"/>
            <a:ext cx="1005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用户分级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897880" y="2532888"/>
            <a:ext cx="2331720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 级准确率 · H/A 合并准确率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H/A/B/C 混淆矩阵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高意向用户召回率 · 证据引用准确率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64024" y="3378708"/>
            <a:ext cx="1005840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9" name="Text 37"/>
          <p:cNvSpPr/>
          <p:nvPr/>
        </p:nvSpPr>
        <p:spPr>
          <a:xfrm>
            <a:off x="4764024" y="3378708"/>
            <a:ext cx="1005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画像质量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97880" y="3369564"/>
            <a:ext cx="233172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品牌车型 / 核心需求 / 顾虑准确率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无证据推断率 · 切入点可用率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64024" y="4009644"/>
            <a:ext cx="1005840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2" name="Text 40"/>
          <p:cNvSpPr/>
          <p:nvPr/>
        </p:nvSpPr>
        <p:spPr>
          <a:xfrm>
            <a:off x="4764024" y="4009644"/>
            <a:ext cx="1005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工程指标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897880" y="4000500"/>
            <a:ext cx="2331720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输出合格率 · 任务成功率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自动重试成功率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平均单评论 / 单用户分析成本与耗时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764024" y="4864608"/>
            <a:ext cx="3502152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64024" y="4956048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业务验证重点(MVP 只看前三项)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764024" y="5212080"/>
            <a:ext cx="3502152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每万条评论产出的有效线索数量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H/A 级线索人工认可率  ③ H 级线索人工认可率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(不以最终成交率评价 MVP)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686800" y="1051560"/>
            <a:ext cx="31089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86800" y="1051560"/>
            <a:ext cx="50292" cy="2651760"/>
          </a:xfrm>
          <a:prstGeom prst="rect">
            <a:avLst/>
          </a:prstGeom>
          <a:solidFill>
            <a:srgbClr val="E8890C"/>
          </a:solidFill>
          <a:ln/>
        </p:spPr>
      </p:sp>
      <p:sp>
        <p:nvSpPr>
          <p:cNvPr id="49" name="Text 47"/>
          <p:cNvSpPr/>
          <p:nvPr/>
        </p:nvSpPr>
        <p:spPr>
          <a:xfrm>
            <a:off x="8833104" y="116128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评测脚手架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833104" y="1517904"/>
            <a:ext cx="2816352" cy="585216"/>
          </a:xfrm>
          <a:prstGeom prst="rect">
            <a:avLst/>
          </a:prstGeom>
          <a:solidFill>
            <a:srgbClr val="EEF2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24544" y="156362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make_annotation_template.py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8924544" y="181051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分析完成后生成标注模板 CSV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10177272" y="2107692"/>
            <a:ext cx="128016" cy="109728"/>
          </a:xfrm>
          <a:prstGeom prst="downArrow">
            <a:avLst/>
          </a:prstGeom>
          <a:solidFill>
            <a:srgbClr val="E8890C"/>
          </a:solidFill>
          <a:ln/>
        </p:spPr>
      </p:sp>
      <p:sp>
        <p:nvSpPr>
          <p:cNvPr id="54" name="Shape 52"/>
          <p:cNvSpPr/>
          <p:nvPr/>
        </p:nvSpPr>
        <p:spPr>
          <a:xfrm>
            <a:off x="8833104" y="2231136"/>
            <a:ext cx="2816352" cy="585216"/>
          </a:xfrm>
          <a:prstGeom prst="rect">
            <a:avLst/>
          </a:prstGeom>
          <a:solidFill>
            <a:srgbClr val="EEF2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24544" y="22768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业务人工标注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8924544" y="252374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是否有意义 / 购车相关 / 意向强度等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10177272" y="2820924"/>
            <a:ext cx="128016" cy="109728"/>
          </a:xfrm>
          <a:prstGeom prst="downArrow">
            <a:avLst/>
          </a:prstGeom>
          <a:solidFill>
            <a:srgbClr val="E8890C"/>
          </a:solidFill>
          <a:ln/>
        </p:spPr>
      </p:sp>
      <p:sp>
        <p:nvSpPr>
          <p:cNvPr id="58" name="Shape 56"/>
          <p:cNvSpPr/>
          <p:nvPr/>
        </p:nvSpPr>
        <p:spPr>
          <a:xfrm>
            <a:off x="8833104" y="2944368"/>
            <a:ext cx="2816352" cy="585216"/>
          </a:xfrm>
          <a:prstGeom prst="rect">
            <a:avLst/>
          </a:prstGeom>
          <a:solidFill>
            <a:srgbClr val="EEF2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24544" y="2990088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evaluate.py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8924544" y="323697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对照标注计算全部核心指标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8686800" y="3840480"/>
            <a:ext cx="3108960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686800" y="3840480"/>
            <a:ext cx="50292" cy="2578608"/>
          </a:xfrm>
          <a:prstGeom prst="rect">
            <a:avLst/>
          </a:prstGeom>
          <a:solidFill>
            <a:srgbClr val="3E5C94"/>
          </a:solidFill>
          <a:ln/>
        </p:spPr>
      </p:sp>
      <p:sp>
        <p:nvSpPr>
          <p:cNvPr id="63" name="Text 61"/>
          <p:cNvSpPr/>
          <p:nvPr/>
        </p:nvSpPr>
        <p:spPr>
          <a:xfrm>
            <a:off x="8833104" y="3950208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自动化测试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8833104" y="4242816"/>
            <a:ext cx="2816352" cy="2103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个测试模块,全部基于 MockProvider,不依赖真实 LLM 与外部服务。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单元:导入幂等 · 标签解析 · 聚合统计 · Schema 校验 · 批次 ID 一致性 · 重试与断点恢复。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集成:小样本端到端(导入 → 3 Skill → 聚合 → lead 产出)。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真实模型联调:抽样 2–3 个视频跑通并初步调优 Prompt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DriveIntent 技术实现方案</dc:title>
  <dc:subject>PptxGenJS Presentation</dc:subject>
  <dc:creator>DriveIntent</dc:creator>
  <cp:lastModifiedBy>DriveIntent</cp:lastModifiedBy>
  <cp:revision>1</cp:revision>
  <dcterms:created xsi:type="dcterms:W3CDTF">2026-07-21T03:40:34Z</dcterms:created>
  <dcterms:modified xsi:type="dcterms:W3CDTF">2026-07-21T03:40:34Z</dcterms:modified>
</cp:coreProperties>
</file>